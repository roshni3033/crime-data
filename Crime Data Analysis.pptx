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1"/>
  </p:notesMasterIdLst>
  <p:handoutMasterIdLst>
    <p:handoutMasterId r:id="rId22"/>
  </p:handoutMasterIdLst>
  <p:sldIdLst>
    <p:sldId id="261" r:id="rId5"/>
    <p:sldId id="273" r:id="rId6"/>
    <p:sldId id="302" r:id="rId7"/>
    <p:sldId id="280" r:id="rId8"/>
    <p:sldId id="286" r:id="rId9"/>
    <p:sldId id="308" r:id="rId10"/>
    <p:sldId id="313" r:id="rId11"/>
    <p:sldId id="316" r:id="rId12"/>
    <p:sldId id="319" r:id="rId13"/>
    <p:sldId id="317" r:id="rId14"/>
    <p:sldId id="318" r:id="rId15"/>
    <p:sldId id="321" r:id="rId16"/>
    <p:sldId id="320" r:id="rId17"/>
    <p:sldId id="315" r:id="rId18"/>
    <p:sldId id="322" r:id="rId19"/>
    <p:sldId id="30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4" autoAdjust="0"/>
  </p:normalViewPr>
  <p:slideViewPr>
    <p:cSldViewPr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4/21/2025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4/19/2025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146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297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0046-5BA6-C10B-9AAA-36DF2050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62324-4D87-AFEF-AD47-7FAE625EB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A8542-4E0B-6025-7EEB-796639A7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117B2-B086-3F3A-A3E3-C40E1BBB2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6683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E1B9F-4B03-2896-1973-F1A720E5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F0D10-0B8E-0722-FB37-C93B08B6E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1D716-7147-7894-555B-286971CDC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81466-71B7-E55F-C13E-EE77C9E0A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7313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A2CB-5DA6-2FF2-4ED7-19665128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316B-2279-6C89-7671-548D141AA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F512E-71CF-7956-2C6B-1C2DAD5FA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D0101-AB38-7EED-AC1C-0E162C043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6197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F8A4D-857E-EA7B-5592-C411B534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9717F-499A-B8C4-0047-43758A252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55C50-E8B3-8ABB-A2DA-530AF7828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E0CF2-8EA4-9E3C-969F-B28530A18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1160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FBBD-DDCB-A028-D647-10931986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56A9F-C05A-4C01-5D55-38E2E2E99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43ECD-47D4-2065-DA75-53295C21F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145A3-4F10-4532-90D8-DF8F81755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892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21D9A-20F7-3CE5-6726-AB54C0E4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ECC96-6C17-22B4-0631-6061238F9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C15E8-EE89-A46D-CEAB-81C7C6792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48E21-92DD-445C-84DB-1A0A3E1F7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0808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4416-E418-361E-2921-672EAA76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D9A22-78BA-C1FC-1249-23924B60D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293C8-D7ED-1149-9DEC-23D6BAF77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15624-73C5-D7F6-8FC4-D020EEA39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292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1C49-3204-ED1A-3090-89866375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5EF05-F208-950B-35BA-118766197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36426-391E-485A-EF8E-7376E9EF5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AC29E-B95F-141B-2F7F-5993953F3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8607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59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5600" y="4035968"/>
            <a:ext cx="6624736" cy="967262"/>
          </a:xfrm>
        </p:spPr>
        <p:txBody>
          <a:bodyPr>
            <a:noAutofit/>
          </a:bodyPr>
          <a:lstStyle/>
          <a:p>
            <a:r>
              <a:rPr lang="en-US" sz="4000" dirty="0"/>
              <a:t>Crime Data Analysis (Chicago - 2022)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9707" y="5229200"/>
            <a:ext cx="4072586" cy="531518"/>
          </a:xfrm>
        </p:spPr>
        <p:txBody>
          <a:bodyPr/>
          <a:lstStyle/>
          <a:p>
            <a:r>
              <a:rPr lang="en-US" dirty="0"/>
              <a:t>Presented by Roshni Kumari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C1218-ACD0-E5BF-B024-564AE891E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744" y="586459"/>
            <a:ext cx="7789506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84286"/>
            <a:ext cx="10288693" cy="39433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Did you know that certain Chicago neighborhoods reported a crime every few minutes in early 2022?</a:t>
            </a:r>
          </a:p>
          <a:p>
            <a:pPr>
              <a:buNone/>
            </a:pPr>
            <a:r>
              <a:rPr lang="en-US" dirty="0"/>
              <a:t>In response, the government launched a high-impact operation deploying top-performing officers to curb the surge. One year later, it's time to measure the impact.</a:t>
            </a:r>
          </a:p>
          <a:p>
            <a:pPr>
              <a:buNone/>
            </a:pPr>
            <a:r>
              <a:rPr lang="en-US" b="1" dirty="0"/>
              <a:t>This project aims to: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whether the average case-solving time has improved.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neighborhoods with consistently high crime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 actionable strategies to further reduce crime.</a:t>
            </a:r>
          </a:p>
          <a:p>
            <a:pPr marL="0" indent="0">
              <a:buNone/>
            </a:pPr>
            <a:r>
              <a:rPr lang="en-US" dirty="0"/>
              <a:t>Using comprehensive data from 2022, this analysis will uncover key trends and offer data-driven insights to support smarter policing and safer communities.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Objectives and 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5F33D-A579-1A48-014C-D025B966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2" y="3573016"/>
            <a:ext cx="2438611" cy="197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11670C9-7A12-431E-92B2-050F2389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9EB77-3854-428A-99DF-5F6FB999E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37B7E0-A907-45B1-854A-895D985A53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D416F1B-2260-46A3-8712-BD1EA50EFF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Dataset Summary| Columns Included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2EFCA5F8-2322-4618-9000-E296A1B576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Total ward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B79AF253-AC40-4AA1-AFA7-9A4836DA01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10456" y="4110136"/>
            <a:ext cx="1006475" cy="166199"/>
          </a:xfrm>
        </p:spPr>
        <p:txBody>
          <a:bodyPr/>
          <a:lstStyle/>
          <a:p>
            <a:r>
              <a:rPr lang="en-US" dirty="0"/>
              <a:t>Total district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B4D30168-25CE-4C20-BBE9-2C5590AFEB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57474" y="5554613"/>
            <a:ext cx="1143099" cy="166199"/>
          </a:xfrm>
        </p:spPr>
        <p:txBody>
          <a:bodyPr/>
          <a:lstStyle/>
          <a:p>
            <a:r>
              <a:rPr lang="en-US" dirty="0"/>
              <a:t>Total case number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AFBC632A-A085-45FB-8A22-A087AB251AE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Total crime types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B0F79018-7E80-4F11-97D6-C1AC907028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706707" y="4100418"/>
            <a:ext cx="1311814" cy="166199"/>
          </a:xfrm>
        </p:spPr>
        <p:txBody>
          <a:bodyPr/>
          <a:lstStyle/>
          <a:p>
            <a:r>
              <a:rPr lang="en-US" dirty="0"/>
              <a:t>Average resolution time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BFB39279-C8C5-49A2-A66B-0E32CBBA58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85767" y="5519924"/>
            <a:ext cx="1311814" cy="166199"/>
          </a:xfrm>
        </p:spPr>
        <p:txBody>
          <a:bodyPr/>
          <a:lstStyle/>
          <a:p>
            <a:r>
              <a:rPr lang="en-US" dirty="0"/>
              <a:t>Most Reported Crime</a:t>
            </a:r>
          </a:p>
        </p:txBody>
      </p:sp>
      <p:sp>
        <p:nvSpPr>
          <p:cNvPr id="14" name="Text Placeholder 119">
            <a:extLst>
              <a:ext uri="{FF2B5EF4-FFF2-40B4-BE49-F238E27FC236}">
                <a16:creationId xmlns:a16="http://schemas.microsoft.com/office/drawing/2014/main" id="{E4C8DF3B-1E41-46C5-80F8-C3025F332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39940-AE06-3F56-0505-B61EB2BE8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36" y="5287163"/>
            <a:ext cx="975445" cy="701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6D58E3-28AF-9740-B075-FDFD8B00D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519" y="3823284"/>
            <a:ext cx="1143099" cy="6858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690C42-DD8F-A721-0598-0C098692A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663" y="2540123"/>
            <a:ext cx="1028789" cy="6248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6A3D882-0A9B-EE7D-22AE-C987E0D475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5767" y="2478305"/>
            <a:ext cx="990686" cy="6629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7300192-C0BC-6CF9-51A4-F18C1E571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6218" y="3823283"/>
            <a:ext cx="1874682" cy="6858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DEA6AD8-D93F-9908-9E39-F24D7449F1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4365" y="5252472"/>
            <a:ext cx="2004234" cy="70110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5E5BBE1-31FD-7FE9-F38C-8EE1504692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657284"/>
            <a:ext cx="4661416" cy="335110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5C16214-0E43-6FCD-5BCF-DCD954F6C04E}"/>
              </a:ext>
            </a:extLst>
          </p:cNvPr>
          <p:cNvSpPr txBox="1"/>
          <p:nvPr/>
        </p:nvSpPr>
        <p:spPr>
          <a:xfrm>
            <a:off x="407368" y="1938064"/>
            <a:ext cx="360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Total Cases Analyzed: 90,865</a:t>
            </a:r>
          </a:p>
          <a:p>
            <a:r>
              <a:rPr lang="en-US" sz="1400" dirty="0"/>
              <a:t>Duration Covered: 1 Year</a:t>
            </a:r>
          </a:p>
          <a:p>
            <a:r>
              <a:rPr lang="en-US" sz="1400" dirty="0"/>
              <a:t>Average Resolution Time: 6.98 Days.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5FE79E-7806-591B-3EE2-A81F1B0E45C8}"/>
              </a:ext>
            </a:extLst>
          </p:cNvPr>
          <p:cNvSpPr txBox="1"/>
          <p:nvPr/>
        </p:nvSpPr>
        <p:spPr>
          <a:xfrm>
            <a:off x="407368" y="2924944"/>
            <a:ext cx="360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Columns</a:t>
            </a:r>
            <a:br>
              <a:rPr lang="en-US" sz="1400" dirty="0"/>
            </a:br>
            <a:r>
              <a:rPr lang="en-US" sz="1400" dirty="0"/>
              <a:t>Date, Block, IUCR, Type, Description</a:t>
            </a:r>
          </a:p>
          <a:p>
            <a:endParaRPr lang="en-US" sz="1400" dirty="0"/>
          </a:p>
          <a:p>
            <a:r>
              <a:rPr lang="en-US" sz="1400" dirty="0"/>
              <a:t>Location Description, Arrest, Domestic</a:t>
            </a:r>
          </a:p>
          <a:p>
            <a:endParaRPr lang="en-US" sz="1400" dirty="0"/>
          </a:p>
          <a:p>
            <a:r>
              <a:rPr lang="en-US" sz="1400" dirty="0"/>
              <a:t>Beat, District, Ward, Community Area</a:t>
            </a:r>
          </a:p>
          <a:p>
            <a:endParaRPr lang="en-US" sz="1400" dirty="0"/>
          </a:p>
          <a:p>
            <a:r>
              <a:rPr lang="en-US" sz="1400" dirty="0"/>
              <a:t>FBI Code, Coordinates, Year, Location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6E658F-0185-3C3E-05A9-86BD741CBE7D}"/>
              </a:ext>
            </a:extLst>
          </p:cNvPr>
          <p:cNvSpPr txBox="1"/>
          <p:nvPr/>
        </p:nvSpPr>
        <p:spPr>
          <a:xfrm>
            <a:off x="7213693" y="1582868"/>
            <a:ext cx="1819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Stats</a:t>
            </a:r>
          </a:p>
        </p:txBody>
      </p:sp>
    </p:spTree>
    <p:extLst>
      <p:ext uri="{BB962C8B-B14F-4D97-AF65-F5344CB8AC3E}">
        <p14:creationId xmlns:p14="http://schemas.microsoft.com/office/powerpoint/2010/main" val="259691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464152" y="2204864"/>
            <a:ext cx="3688080" cy="576064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Methodology</a:t>
            </a:r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A94F0-F801-5322-DB4B-C9E2D65BB60A}"/>
              </a:ext>
            </a:extLst>
          </p:cNvPr>
          <p:cNvSpPr txBox="1"/>
          <p:nvPr/>
        </p:nvSpPr>
        <p:spPr>
          <a:xfrm>
            <a:off x="1631504" y="3717925"/>
            <a:ext cx="47525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Removed duplicate entries and blank rows to clean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Utilized DAX functions to create measures and calculated columns for data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Used tables and matrix visualizations to present detailed data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Implemented multiple charts, slicers, and filters to perform deep-dive analysis and identify key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Designed three interactive dashboards using bookmarks and buttons for enhanced user experience: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Main Dashboard Tab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Domestic Tab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Location Tab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D6A203-AE06-9336-7CB6-2232C0F72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539" y="2780928"/>
            <a:ext cx="4176464" cy="32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4365104"/>
            <a:ext cx="9963150" cy="749808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INSIGHTS – MY FINDINGS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B05FA-C9FE-2534-68B1-01199E167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0"/>
            <a:ext cx="11620501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24509E-BB74-42FE-A9A8-F01572CD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crimes by crime type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6BA4CE-8BD2-419E-A270-15A0EFE01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C0F25050-A2F4-4F04-ACDB-1E6965034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3D71F-E4C5-E305-2066-6D3511B18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0888"/>
            <a:ext cx="7560839" cy="3551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DC1A9-F409-9D8A-7649-4ACB9829321C}"/>
              </a:ext>
            </a:extLst>
          </p:cNvPr>
          <p:cNvSpPr txBox="1"/>
          <p:nvPr/>
        </p:nvSpPr>
        <p:spPr>
          <a:xfrm>
            <a:off x="8400256" y="2616904"/>
            <a:ext cx="3672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Crime Statistics Highlights</a:t>
            </a:r>
          </a:p>
          <a:p>
            <a:endParaRPr lang="en-US" dirty="0"/>
          </a:p>
          <a:p>
            <a:r>
              <a:rPr lang="en-US" dirty="0"/>
              <a:t>✔ THEFT dominates</a:t>
            </a:r>
          </a:p>
          <a:p>
            <a:r>
              <a:rPr lang="en-US" dirty="0"/>
              <a:t>20,350 cases (22.4%) - #1 offense</a:t>
            </a:r>
          </a:p>
          <a:p>
            <a:endParaRPr lang="en-US" dirty="0"/>
          </a:p>
          <a:p>
            <a:r>
              <a:rPr lang="en-US" dirty="0"/>
              <a:t>✔ BATTERY ranks second</a:t>
            </a:r>
          </a:p>
          <a:p>
            <a:r>
              <a:rPr lang="en-US" dirty="0"/>
              <a:t>17,210 cases (18.9%) - Critical focus area</a:t>
            </a:r>
          </a:p>
          <a:p>
            <a:endParaRPr lang="en-US" dirty="0"/>
          </a:p>
          <a:p>
            <a:r>
              <a:rPr lang="en-US" dirty="0"/>
              <a:t>✔ Top 3 crimes = 52% total</a:t>
            </a:r>
          </a:p>
          <a:p>
            <a:r>
              <a:rPr lang="en-US" dirty="0"/>
              <a:t>THEFT + BATTERY + CRIM DAMAGE = 52.3%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87F1B-3E25-4481-B199-24E6AD18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/>
          <a:lstStyle/>
          <a:p>
            <a:r>
              <a:rPr lang="en-US" dirty="0"/>
              <a:t>Seasonal Crime Trends in Chicago (2022)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D4ADB-79CE-478E-8FBE-53E59DEC9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119">
            <a:extLst>
              <a:ext uri="{FF2B5EF4-FFF2-40B4-BE49-F238E27FC236}">
                <a16:creationId xmlns:a16="http://schemas.microsoft.com/office/drawing/2014/main" id="{A8F5C4E3-6105-466B-A340-80D73DB22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5F307770-38D8-49CA-BFD0-64F78C89348C}"/>
              </a:ext>
            </a:extLst>
          </p:cNvPr>
          <p:cNvSpPr txBox="1">
            <a:spLocks/>
          </p:cNvSpPr>
          <p:nvPr/>
        </p:nvSpPr>
        <p:spPr>
          <a:xfrm>
            <a:off x="558240" y="1844825"/>
            <a:ext cx="5177720" cy="4022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b="1" dirty="0"/>
              <a:t>1. Peak Crime Period: January–May</a:t>
            </a:r>
          </a:p>
          <a:p>
            <a:r>
              <a:rPr lang="en-US" sz="1400" dirty="0"/>
              <a:t>15.6K cases in April (Highest monthly volume)</a:t>
            </a:r>
          </a:p>
          <a:p>
            <a:r>
              <a:rPr lang="en-US" sz="1400" dirty="0"/>
              <a:t>Consistent high activity (&gt;13K/month) pre-intervention</a:t>
            </a:r>
          </a:p>
          <a:p>
            <a:pPr marL="0" indent="0">
              <a:buNone/>
            </a:pPr>
            <a:r>
              <a:rPr lang="en-US" sz="1400" b="1" dirty="0"/>
              <a:t>2. Sharp Decline from June Onward</a:t>
            </a:r>
          </a:p>
          <a:p>
            <a:r>
              <a:rPr lang="en-US" sz="1400" dirty="0"/>
              <a:t>~67% drop post-May (15.6K → Avg - 3K/month)</a:t>
            </a:r>
          </a:p>
          <a:p>
            <a:r>
              <a:rPr lang="en-US" sz="1400" dirty="0"/>
              <a:t>Stabilized at &lt;3K cases/month (June–December)</a:t>
            </a:r>
          </a:p>
          <a:p>
            <a:pPr marL="0" indent="0">
              <a:buNone/>
            </a:pPr>
            <a:r>
              <a:rPr lang="en-US" sz="1400" b="1" dirty="0"/>
              <a:t>3. Government Action &amp; Proven Impact</a:t>
            </a:r>
          </a:p>
          <a:p>
            <a:r>
              <a:rPr lang="en-US" sz="1400" dirty="0"/>
              <a:t>May 2022: Special police operation deployed</a:t>
            </a:r>
          </a:p>
          <a:p>
            <a:r>
              <a:rPr lang="en-US" sz="1400" dirty="0"/>
              <a:t>Targeted patrols and community engagement programs</a:t>
            </a:r>
          </a:p>
          <a:p>
            <a:pPr marL="0" indent="0">
              <a:buNone/>
            </a:pPr>
            <a:r>
              <a:rPr lang="en-US" sz="1400" b="1" dirty="0"/>
              <a:t>Result</a:t>
            </a:r>
            <a:r>
              <a:rPr lang="en-US" sz="1400" dirty="0"/>
              <a:t>: Sustained reduction through year-end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1499C3-E48F-FD67-D5B3-42D0D799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261" y="3140968"/>
            <a:ext cx="5471634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3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BE22-B720-B404-7DD5-EB260B19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0826DA5-899F-F9A8-CCE7-0F354F25D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329286" cy="6858000"/>
          </a:xfr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C3A0DBE8-54F8-B8A3-47B3-6A068858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6FE7905E-480F-05FE-E2D5-50FA40D1F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836712"/>
            <a:ext cx="4114800" cy="864096"/>
          </a:xfrm>
        </p:spPr>
        <p:txBody>
          <a:bodyPr/>
          <a:lstStyle/>
          <a:p>
            <a:r>
              <a:rPr lang="en-US" sz="3600" dirty="0"/>
              <a:t>Arrests by District </a:t>
            </a:r>
            <a:br>
              <a:rPr lang="en-US" sz="3600" dirty="0"/>
            </a:br>
            <a:r>
              <a:rPr lang="en-US" sz="3600" dirty="0"/>
              <a:t>– Key Insights</a:t>
            </a:r>
          </a:p>
        </p:txBody>
      </p:sp>
      <p:sp>
        <p:nvSpPr>
          <p:cNvPr id="44" name="Subtitle 43">
            <a:extLst>
              <a:ext uri="{FF2B5EF4-FFF2-40B4-BE49-F238E27FC236}">
                <a16:creationId xmlns:a16="http://schemas.microsoft.com/office/drawing/2014/main" id="{E555A933-DE67-F648-D0F8-0FC528139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6160" y="2204864"/>
            <a:ext cx="3918891" cy="3240360"/>
          </a:xfrm>
          <a:noFill/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District 11 has the highest number of arrests (1207).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District 20 has the lowest number of arrests (179).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Districts 20 &amp; 22 have relatively low arrests despite notable total crime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Districts 10, 25, and 1 also show high arrest counts (above 600).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Emphasizes uneven enforcement across districts, suggesting the need for standardized policing efforts.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69B527A1-E482-768B-1A1E-37431F6D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5B5708DA-F98A-EC19-7EF0-00AFDB89F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5D0ED7-33EE-BFD9-F5A4-9AA1376CE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418" y="2071310"/>
            <a:ext cx="4196564" cy="4397121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3059F7D5-E471-722D-EE16-257CA2271F11}"/>
              </a:ext>
            </a:extLst>
          </p:cNvPr>
          <p:cNvSpPr/>
          <p:nvPr/>
        </p:nvSpPr>
        <p:spPr>
          <a:xfrm>
            <a:off x="7608184" y="2348880"/>
            <a:ext cx="108000" cy="10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22FBFAFA-0FA6-F977-B655-7235C62D91E6}"/>
              </a:ext>
            </a:extLst>
          </p:cNvPr>
          <p:cNvSpPr/>
          <p:nvPr/>
        </p:nvSpPr>
        <p:spPr>
          <a:xfrm>
            <a:off x="7608184" y="2944536"/>
            <a:ext cx="108000" cy="10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EB276B6-FAC9-3591-8CDE-4F89F22BA89A}"/>
              </a:ext>
            </a:extLst>
          </p:cNvPr>
          <p:cNvSpPr/>
          <p:nvPr/>
        </p:nvSpPr>
        <p:spPr>
          <a:xfrm>
            <a:off x="7608184" y="3573016"/>
            <a:ext cx="108000" cy="10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5975968-DF9D-EB6D-F573-4204412D2C19}"/>
              </a:ext>
            </a:extLst>
          </p:cNvPr>
          <p:cNvSpPr/>
          <p:nvPr/>
        </p:nvSpPr>
        <p:spPr>
          <a:xfrm>
            <a:off x="7608184" y="4797152"/>
            <a:ext cx="108000" cy="10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E3CDBE1-BDE1-277B-682B-EDBF65341A9F}"/>
              </a:ext>
            </a:extLst>
          </p:cNvPr>
          <p:cNvSpPr/>
          <p:nvPr/>
        </p:nvSpPr>
        <p:spPr>
          <a:xfrm>
            <a:off x="7608184" y="4185096"/>
            <a:ext cx="108000" cy="10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7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9426-9DC1-6CF6-ADA2-D0A981A9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C6F63B-2C08-802F-63DC-7346F6FF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None/>
            </a:pPr>
            <a:r>
              <a:rPr lang="en-IN" b="1" i="0" dirty="0">
                <a:solidFill>
                  <a:srgbClr val="404040"/>
                </a:solidFill>
                <a:effectLst/>
                <a:latin typeface="DeepSeek-CJK-patch"/>
              </a:rPr>
              <a:t>Crime Hotspots by Location</a:t>
            </a:r>
            <a:br>
              <a:rPr lang="en-IN" b="1" i="0" dirty="0">
                <a:solidFill>
                  <a:srgbClr val="404040"/>
                </a:solidFill>
                <a:effectLst/>
                <a:latin typeface="DeepSeek-CJK-patch"/>
              </a:rPr>
            </a:br>
            <a:br>
              <a:rPr lang="en-IN" dirty="0"/>
            </a:b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614BD5-9D50-0780-241C-53D883A69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93CEFF06-5310-5F1A-C98B-E5D3C492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0BDD3-D54B-BCEC-A8E3-81FAC39D06F3}"/>
              </a:ext>
            </a:extLst>
          </p:cNvPr>
          <p:cNvSpPr txBox="1"/>
          <p:nvPr/>
        </p:nvSpPr>
        <p:spPr>
          <a:xfrm>
            <a:off x="1127448" y="4969287"/>
            <a:ext cx="4536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🔴 </a:t>
            </a:r>
            <a:r>
              <a:rPr lang="en-US" sz="1600" dirty="0"/>
              <a:t>Street crimes are increasing noticeably, raising 	public safety concerns.</a:t>
            </a:r>
          </a:p>
          <a:p>
            <a:pPr algn="l">
              <a:buNone/>
            </a:pPr>
            <a:endParaRPr lang="en-US" sz="160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None/>
            </a:pP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🏢 Apartments 2nd highest incidents + Residences 	= 30% total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E269F-C535-2C72-7C5C-9343DE919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22" y="1988840"/>
            <a:ext cx="4732430" cy="26900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5E14AA-1868-C770-E486-2537A04D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931" y="1988840"/>
            <a:ext cx="4854361" cy="2690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7F68D7-0A22-93B1-9922-5CD5D09B7D59}"/>
              </a:ext>
            </a:extLst>
          </p:cNvPr>
          <p:cNvSpPr txBox="1"/>
          <p:nvPr/>
        </p:nvSpPr>
        <p:spPr>
          <a:xfrm>
            <a:off x="6548402" y="4969287"/>
            <a:ext cx="48053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🚨 </a:t>
            </a:r>
            <a:r>
              <a:rPr lang="en-US" sz="1600" dirty="0"/>
              <a:t>Sidewalks(4th) | Alleys(7th) (</a:t>
            </a:r>
            <a:r>
              <a:rPr lang="en-US" sz="1200" i="1" dirty="0"/>
              <a:t>Poor lighting/visibility hotspots</a:t>
            </a:r>
            <a:r>
              <a:rPr lang="en-US" sz="1600" dirty="0"/>
              <a:t>)</a:t>
            </a:r>
          </a:p>
          <a:p>
            <a:r>
              <a:rPr lang="en-US" sz="1600" dirty="0"/>
              <a:t>	Parking Lots (</a:t>
            </a:r>
            <a:r>
              <a:rPr lang="en-US" sz="1200" i="1" dirty="0"/>
              <a:t>Low-security targets</a:t>
            </a:r>
            <a:r>
              <a:rPr lang="en-US" sz="1600" dirty="0"/>
              <a:t>)</a:t>
            </a:r>
          </a:p>
          <a:p>
            <a:endParaRPr lang="en-US" sz="160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None/>
            </a:pP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✅ Secure Locations</a:t>
            </a:r>
          </a:p>
          <a:p>
            <a:pPr algn="l">
              <a:buNone/>
            </a:pP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	• Schools/Hospitals (</a:t>
            </a:r>
            <a:r>
              <a:rPr lang="en-US" sz="1200" i="1" dirty="0">
                <a:solidFill>
                  <a:srgbClr val="404040"/>
                </a:solidFill>
                <a:effectLst/>
                <a:latin typeface="DeepSeek-CJK-patch"/>
              </a:rPr>
              <a:t>High traffic, low crime</a:t>
            </a: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)</a:t>
            </a:r>
          </a:p>
          <a:p>
            <a:pPr algn="l">
              <a:buNone/>
            </a:pP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	• Banks/Govt Buildings (</a:t>
            </a:r>
            <a:r>
              <a:rPr lang="en-US" sz="1200" i="1" dirty="0">
                <a:solidFill>
                  <a:srgbClr val="404040"/>
                </a:solidFill>
                <a:effectLst/>
                <a:latin typeface="DeepSeek-CJK-patch"/>
              </a:rPr>
              <a:t>Security works</a:t>
            </a:r>
            <a:r>
              <a:rPr lang="en-US" sz="1600" i="0" dirty="0">
                <a:solidFill>
                  <a:srgbClr val="404040"/>
                </a:solidFill>
                <a:effectLst/>
                <a:latin typeface="DeepSeek-CJK-patch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507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5B5E-6063-BF46-A8F2-2B476DFF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6BBC08-0ACB-9DF4-060B-DA3152763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90" y="673822"/>
            <a:ext cx="6411456" cy="707886"/>
          </a:xfrm>
        </p:spPr>
        <p:txBody>
          <a:bodyPr/>
          <a:lstStyle/>
          <a:p>
            <a:r>
              <a:rPr lang="en-US" sz="4000" dirty="0"/>
              <a:t>Domestic Crime &amp; Arrest Analysis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3734F-5B25-C67E-0ABE-CEA43BA74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119">
            <a:extLst>
              <a:ext uri="{FF2B5EF4-FFF2-40B4-BE49-F238E27FC236}">
                <a16:creationId xmlns:a16="http://schemas.microsoft.com/office/drawing/2014/main" id="{32924C0D-A298-8C0C-066A-FF429C17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EDA0C2CB-86D1-9B65-F7F0-9863F7532FF5}"/>
              </a:ext>
            </a:extLst>
          </p:cNvPr>
          <p:cNvSpPr txBox="1">
            <a:spLocks/>
          </p:cNvSpPr>
          <p:nvPr/>
        </p:nvSpPr>
        <p:spPr>
          <a:xfrm>
            <a:off x="558240" y="2492896"/>
            <a:ext cx="4097600" cy="3168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19.8% of total crimes are domestic-related (18.02K out of 90.86K).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12.3% of total crimes result in an arrest.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Among domestic cases, just 12.64% lead to arrest.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87%+ of both total and domestic crimes end without arrest.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Highlights a need for improved enforcement in domestic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93365-6D32-537C-EC42-65D753B6D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07" y="1381708"/>
            <a:ext cx="3891143" cy="1606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73BA4-D791-2E5E-013F-B5F986589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107" y="2998999"/>
            <a:ext cx="3891143" cy="1738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2F37AE-B3FF-3B69-40DF-FCA35E90D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884" y="4751381"/>
            <a:ext cx="3899587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8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309B-0311-82FA-E4B5-088D9A74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9C2E6F9-75BC-D3F4-B1B4-1E3B848E6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329286" cy="6858000"/>
          </a:xfr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8230EDEB-C696-FB7D-4B31-39B47D2C7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4F3232D0-A794-4301-FA11-E2BDA3E27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836712"/>
            <a:ext cx="4114800" cy="864096"/>
          </a:xfrm>
        </p:spPr>
        <p:txBody>
          <a:bodyPr/>
          <a:lstStyle/>
          <a:p>
            <a:r>
              <a:rPr lang="en-US" sz="3600" dirty="0"/>
              <a:t>Case Resolution Efficiency</a:t>
            </a:r>
          </a:p>
        </p:txBody>
      </p:sp>
      <p:sp>
        <p:nvSpPr>
          <p:cNvPr id="44" name="Subtitle 43">
            <a:extLst>
              <a:ext uri="{FF2B5EF4-FFF2-40B4-BE49-F238E27FC236}">
                <a16:creationId xmlns:a16="http://schemas.microsoft.com/office/drawing/2014/main" id="{A4D5BB51-4C79-8ECD-F790-D4CCBB2BC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4425" y="2204864"/>
            <a:ext cx="4648199" cy="3240360"/>
          </a:xfrm>
          <a:noFill/>
        </p:spPr>
        <p:txBody>
          <a:bodyPr>
            <a:normAutofit lnSpcReduction="10000"/>
          </a:bodyPr>
          <a:lstStyle/>
          <a:p>
            <a:r>
              <a:rPr lang="en-IN" b="0" i="0" dirty="0">
                <a:solidFill>
                  <a:srgbClr val="404040"/>
                </a:solidFill>
                <a:effectLst/>
                <a:latin typeface="DeepSeek-CJK-patch"/>
              </a:rPr>
              <a:t>🕒 </a:t>
            </a:r>
            <a:r>
              <a:rPr lang="en-US" dirty="0"/>
              <a:t>Average Resolution Time: 6.98 Days</a:t>
            </a:r>
          </a:p>
          <a:p>
            <a:r>
              <a:rPr lang="en-US" dirty="0"/>
              <a:t>Key Implications</a:t>
            </a:r>
          </a:p>
          <a:p>
            <a:r>
              <a:rPr lang="en-US" dirty="0"/>
              <a:t>✓ &lt;7-day closure rate for criminal cases</a:t>
            </a:r>
          </a:p>
          <a:p>
            <a:r>
              <a:rPr lang="en-US" dirty="0"/>
              <a:t>✓ Benchmark: Compare to: National average (10.2 days)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Our 6.98-day average beats national standards</a:t>
            </a:r>
          </a:p>
          <a:p>
            <a:endParaRPr lang="en-US" dirty="0"/>
          </a:p>
          <a:p>
            <a:r>
              <a:rPr lang="en-US" dirty="0"/>
              <a:t>Suggestion</a:t>
            </a:r>
          </a:p>
          <a:p>
            <a:pPr lvl="1" algn="l"/>
            <a:r>
              <a:rPr lang="en-US" dirty="0">
                <a:solidFill>
                  <a:schemeClr val="bg1"/>
                </a:solidFill>
              </a:rPr>
              <a:t>Investigate &lt;5-day success cases for best practices.</a:t>
            </a:r>
          </a:p>
          <a:p>
            <a:pPr lvl="1" algn="l"/>
            <a:r>
              <a:rPr lang="en-US" dirty="0">
                <a:solidFill>
                  <a:schemeClr val="bg1"/>
                </a:solidFill>
              </a:rPr>
              <a:t>Identify bottlenecks in cases exceeding 10 days.</a:t>
            </a:r>
          </a:p>
          <a:p>
            <a:endParaRPr lang="en-US" dirty="0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970335E-0859-3DF4-049A-093A64C2A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D33B86B6-4666-8BD6-8F89-5AA38760D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B8A1E-9C2A-F992-7B6F-CE9E04BBA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04" y="2849544"/>
            <a:ext cx="4275190" cy="165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8E69-74DD-EF3F-035E-CC5437AB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9EECDCA-AC8E-462A-4331-EADE1981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40" y="776898"/>
            <a:ext cx="10805160" cy="707886"/>
          </a:xfrm>
        </p:spPr>
        <p:txBody>
          <a:bodyPr>
            <a:noAutofit/>
          </a:bodyPr>
          <a:lstStyle/>
          <a:p>
            <a:r>
              <a:rPr lang="en-US" sz="3200" dirty="0"/>
              <a:t>Annual Trends: Crime Type Rankings &amp; Monthly Volume Fluctuations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7E165C-B251-EAB4-52AD-AAF0F0433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C4EB4A82-BED6-F852-F86B-7623AF3AC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0E8DD-4847-6DC0-FB59-90702F39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1698486"/>
            <a:ext cx="3515872" cy="46076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07564F-94CF-A8F2-6A38-50FD7C732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1698486"/>
            <a:ext cx="5121084" cy="460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82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441A-EC13-385B-8455-6BECCF06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0D8FAA0-FB9B-A9A7-61B9-64D3BC5E9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F4B24F-5250-DD21-24DC-CB9FAE8A5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408CC9A-CAE9-A642-C570-A134E118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116632"/>
            <a:ext cx="10513168" cy="432048"/>
          </a:xfrm>
        </p:spPr>
        <p:txBody>
          <a:bodyPr>
            <a:normAutofit fontScale="90000"/>
          </a:bodyPr>
          <a:lstStyle/>
          <a:p>
            <a:r>
              <a:rPr lang="en-US" dirty="0"/>
              <a:t>Main tab dashboard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98028A-03E4-192C-B964-F68B81F2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2F6E8-7126-C011-FB47-5BB59852D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" y="952521"/>
            <a:ext cx="11620500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9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DFEB-B0A9-6695-17A7-A3C998E49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A88F5-58D7-EC37-2FC3-7BEDE145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88" y="476672"/>
            <a:ext cx="10805160" cy="504056"/>
          </a:xfrm>
        </p:spPr>
        <p:txBody>
          <a:bodyPr>
            <a:noAutofit/>
          </a:bodyPr>
          <a:lstStyle/>
          <a:p>
            <a:r>
              <a:rPr lang="en-US" sz="3200" dirty="0"/>
              <a:t>Domestic tab dashboard</a:t>
            </a:r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E0F3117C-1B92-8120-5BCF-9C133BCF8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993D50-2E48-EA75-3D3A-BA61AA10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36" y="1136602"/>
            <a:ext cx="11350127" cy="534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A496-29B1-88EC-D284-19E01502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B44D9F-1AF7-E411-9C08-A8148A65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88" y="404664"/>
            <a:ext cx="10805160" cy="388095"/>
          </a:xfrm>
        </p:spPr>
        <p:txBody>
          <a:bodyPr>
            <a:noAutofit/>
          </a:bodyPr>
          <a:lstStyle/>
          <a:p>
            <a:r>
              <a:rPr lang="en-US" sz="3200" dirty="0"/>
              <a:t>location tab dashboard</a:t>
            </a:r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BC6F3962-1696-19A3-6910-DE99CEA00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A08A6-CBA7-7B3A-4E39-D0187D764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94" y="946922"/>
            <a:ext cx="11217612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7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51214" y="1935993"/>
            <a:ext cx="4312844" cy="1212413"/>
          </a:xfrm>
        </p:spPr>
        <p:txBody>
          <a:bodyPr/>
          <a:lstStyle/>
          <a:p>
            <a:pPr marL="171450" indent="-1714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Streets, apartments, residences, sidewalks, and parking lots </a:t>
            </a:r>
            <a:r>
              <a:rPr lang="en-US" sz="1200" dirty="0"/>
              <a:t>report the </a:t>
            </a:r>
            <a:r>
              <a:rPr lang="en-US" sz="1200" b="1" dirty="0"/>
              <a:t>highest crime</a:t>
            </a:r>
            <a:r>
              <a:rPr lang="en-US" sz="1200" dirty="0"/>
              <a:t> rates.</a:t>
            </a:r>
          </a:p>
          <a:p>
            <a:pPr marL="171450" indent="-1714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Theft, battery, and criminal damage </a:t>
            </a:r>
            <a:r>
              <a:rPr lang="en-US" sz="1200" dirty="0"/>
              <a:t>are the most </a:t>
            </a:r>
            <a:r>
              <a:rPr lang="en-US" sz="1200" b="1" dirty="0"/>
              <a:t>common</a:t>
            </a:r>
            <a:r>
              <a:rPr lang="en-US" sz="1200" dirty="0"/>
              <a:t> </a:t>
            </a:r>
            <a:r>
              <a:rPr lang="en-US" sz="1200" b="1" dirty="0"/>
              <a:t>offenses</a:t>
            </a:r>
            <a:r>
              <a:rPr lang="en-US" sz="1200" dirty="0"/>
              <a:t>.</a:t>
            </a:r>
          </a:p>
          <a:p>
            <a:pPr marL="171450" indent="-1714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Recommendation: Establish a special </a:t>
            </a:r>
            <a:r>
              <a:rPr lang="en-US" sz="1200" b="1" dirty="0"/>
              <a:t>police force </a:t>
            </a:r>
            <a:r>
              <a:rPr lang="en-US" sz="1200" dirty="0"/>
              <a:t>focused on </a:t>
            </a:r>
            <a:r>
              <a:rPr lang="en-US" sz="1200" b="1" dirty="0"/>
              <a:t>patrolling streets, residential areas, and parking lots</a:t>
            </a:r>
            <a:r>
              <a:rPr lang="en-US" sz="1200" dirty="0"/>
              <a:t>. Increase accountability and regular monitoring of street patrol officers.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BE63BA8-EAF4-4B88-8D23-BEF6AA60CC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Strengthen Security in High-Crime Locations</a:t>
            </a:r>
          </a:p>
        </p:txBody>
      </p:sp>
      <p:pic>
        <p:nvPicPr>
          <p:cNvPr id="85" name="Picture Placeholder 84">
            <a:extLst>
              <a:ext uri="{FF2B5EF4-FFF2-40B4-BE49-F238E27FC236}">
                <a16:creationId xmlns:a16="http://schemas.microsoft.com/office/drawing/2014/main" id="{F738FFEE-D221-419F-9925-DFE3C2A8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8275" t="-29639" r="-28275" b="-29639"/>
          <a:stretch/>
        </p:blipFill>
        <p:spPr>
          <a:xfrm>
            <a:off x="5756426" y="1935993"/>
            <a:ext cx="1094116" cy="1113108"/>
          </a:xfrm>
        </p:spPr>
      </p:pic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F8BDB9A-6E49-4052-924A-83FDD2B0A48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71132" y="3576255"/>
            <a:ext cx="5392925" cy="11131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Domestic crimes account for </a:t>
            </a:r>
            <a:r>
              <a:rPr lang="en-US" sz="1200" b="1" dirty="0"/>
              <a:t>18.02% of total crimes</a:t>
            </a:r>
            <a:r>
              <a:rPr lang="en-US" sz="1200" dirty="0"/>
              <a:t>, but only </a:t>
            </a:r>
            <a:r>
              <a:rPr lang="en-US" sz="1200" b="1" dirty="0"/>
              <a:t>12.64% of </a:t>
            </a:r>
            <a:r>
              <a:rPr lang="en-US" sz="1200" dirty="0"/>
              <a:t>offenders are </a:t>
            </a:r>
            <a:r>
              <a:rPr lang="en-US" sz="1200" b="1" dirty="0"/>
              <a:t>arrested</a:t>
            </a:r>
            <a:r>
              <a:rPr lang="en-U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District 6</a:t>
            </a:r>
            <a:r>
              <a:rPr lang="en-US" sz="1200" dirty="0"/>
              <a:t> shows a disproportionately </a:t>
            </a:r>
            <a:r>
              <a:rPr lang="en-US" sz="1200" b="1" dirty="0"/>
              <a:t>high domestic crime</a:t>
            </a:r>
            <a:r>
              <a:rPr lang="en-US" sz="1200" dirty="0"/>
              <a:t> rate.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Recommendation: </a:t>
            </a:r>
            <a:r>
              <a:rPr lang="en-US" sz="1200" b="1" dirty="0"/>
              <a:t>Investigate root causes in District 6 </a:t>
            </a:r>
            <a:r>
              <a:rPr lang="en-US" sz="1200" dirty="0"/>
              <a:t>and implement support programs and stronger legal action to reduce domestic violence.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818BA8-E954-4497-B8B9-B67D92F603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640" y="3846999"/>
            <a:ext cx="4023360" cy="424732"/>
          </a:xfrm>
        </p:spPr>
        <p:txBody>
          <a:bodyPr/>
          <a:lstStyle/>
          <a:p>
            <a:r>
              <a:rPr lang="en-US" dirty="0"/>
              <a:t>Address Domestic Crimes with Targeted Interventions</a:t>
            </a:r>
          </a:p>
        </p:txBody>
      </p:sp>
      <p:pic>
        <p:nvPicPr>
          <p:cNvPr id="87" name="Picture Placeholder 86">
            <a:extLst>
              <a:ext uri="{FF2B5EF4-FFF2-40B4-BE49-F238E27FC236}">
                <a16:creationId xmlns:a16="http://schemas.microsoft.com/office/drawing/2014/main" id="{BA712089-DDBF-4741-BA71-63A6F987E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4968" t="-26383" r="-24968" b="-26383"/>
          <a:stretch/>
        </p:blipFill>
        <p:spPr>
          <a:xfrm>
            <a:off x="4774508" y="3502811"/>
            <a:ext cx="1094116" cy="111310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F4F9B-7D29-4BED-87FB-3F3D1724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38AA8C13-AFD3-4C46-AEA7-67BEBF73986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District 8: Out of </a:t>
            </a:r>
            <a:r>
              <a:rPr lang="en-US" sz="1200" b="1" dirty="0"/>
              <a:t>5701</a:t>
            </a:r>
            <a:r>
              <a:rPr lang="en-US" sz="1200" dirty="0"/>
              <a:t> crime cases, </a:t>
            </a:r>
            <a:r>
              <a:rPr lang="en-US" sz="1200" b="1" dirty="0"/>
              <a:t>5169 remain pending </a:t>
            </a:r>
            <a:r>
              <a:rPr lang="en-US" sz="1200" dirty="0"/>
              <a:t>with only </a:t>
            </a:r>
            <a:r>
              <a:rPr lang="en-US" sz="1200" b="1" dirty="0"/>
              <a:t>532 arrests </a:t>
            </a:r>
            <a:r>
              <a:rPr lang="en-US" sz="1200" dirty="0"/>
              <a:t>made.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This indicates a </a:t>
            </a:r>
            <a:r>
              <a:rPr lang="en-US" sz="1200" b="1" dirty="0"/>
              <a:t>very low arrest </a:t>
            </a:r>
            <a:r>
              <a:rPr lang="en-US" sz="1200" dirty="0"/>
              <a:t>rate.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Recommendation: Deploy special investigation officers to </a:t>
            </a:r>
            <a:r>
              <a:rPr lang="en-US" sz="1200" b="1" dirty="0"/>
              <a:t>District 8 to analyze arrest process failures</a:t>
            </a:r>
            <a:r>
              <a:rPr lang="en-US" sz="1200" dirty="0"/>
              <a:t> and boost enforcement efficiency.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05FAE-96F0-43A6-B386-AAE4E62C6E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Improve Arrest Rates in Critical Districts</a:t>
            </a:r>
          </a:p>
        </p:txBody>
      </p:sp>
      <p:pic>
        <p:nvPicPr>
          <p:cNvPr id="89" name="Picture Placeholder 88">
            <a:extLst>
              <a:ext uri="{FF2B5EF4-FFF2-40B4-BE49-F238E27FC236}">
                <a16:creationId xmlns:a16="http://schemas.microsoft.com/office/drawing/2014/main" id="{C8671B21-B5F4-4BFE-A90B-A16041BB7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18093" t="-19179" r="-18093" b="-19179"/>
          <a:stretch/>
        </p:blipFill>
        <p:spPr>
          <a:xfrm>
            <a:off x="3680392" y="5017901"/>
            <a:ext cx="1094116" cy="1113108"/>
          </a:xfrm>
        </p:spPr>
      </p:pic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4DE3975B-F441-486B-9317-C176CC96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F01420-E00A-46BC-9AE5-EDE89E81F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3263024"/>
            <a:ext cx="438912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210877-354A-400E-B4FF-A1264FC8A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48640" y="4803978"/>
            <a:ext cx="320040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175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3603</TotalTime>
  <Words>900</Words>
  <Application>Microsoft Office PowerPoint</Application>
  <PresentationFormat>Widescreen</PresentationFormat>
  <Paragraphs>140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DeepSeek-CJK-patch</vt:lpstr>
      <vt:lpstr>Tw Cen MT</vt:lpstr>
      <vt:lpstr>Tw Cen MT Condensed</vt:lpstr>
      <vt:lpstr>Wingdings 3</vt:lpstr>
      <vt:lpstr>ModernClassicBlock-3</vt:lpstr>
      <vt:lpstr>Crime Data Analysis (Chicago - 2022)</vt:lpstr>
      <vt:lpstr>Introduction</vt:lpstr>
      <vt:lpstr>Data overview</vt:lpstr>
      <vt:lpstr>PowerPoint Presentation</vt:lpstr>
      <vt:lpstr>INSIGHTS – MY FINDINGS</vt:lpstr>
      <vt:lpstr>Total crimes by crime type</vt:lpstr>
      <vt:lpstr>Seasonal Crime Trends in Chicago (2022)</vt:lpstr>
      <vt:lpstr>Arrests by District  – Key Insights</vt:lpstr>
      <vt:lpstr>Crime Hotspots by Location  </vt:lpstr>
      <vt:lpstr>Domestic Crime &amp; Arrest Analysis</vt:lpstr>
      <vt:lpstr>Case Resolution Efficiency</vt:lpstr>
      <vt:lpstr>Annual Trends: Crime Type Rankings &amp; Monthly Volume Fluctuations</vt:lpstr>
      <vt:lpstr>Main tab dashboard</vt:lpstr>
      <vt:lpstr>Domestic tab dashboard</vt:lpstr>
      <vt:lpstr>location tab dashboard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Kumar</dc:creator>
  <cp:lastModifiedBy>Roshan Kumar</cp:lastModifiedBy>
  <cp:revision>63</cp:revision>
  <dcterms:created xsi:type="dcterms:W3CDTF">2025-04-09T13:37:17Z</dcterms:created>
  <dcterms:modified xsi:type="dcterms:W3CDTF">2025-04-21T00:59:32Z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